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9"/>
  </p:normalViewPr>
  <p:slideViewPr>
    <p:cSldViewPr snapToGrid="0" snapToObjects="1">
      <p:cViewPr varScale="1">
        <p:scale>
          <a:sx n="112" d="100"/>
          <a:sy n="112" d="100"/>
        </p:scale>
        <p:origin x="5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173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>
                <a:solidFill>
                  <a:srgbClr val="F59E0B"/>
                </a:solidFill>
              </a:defRPr>
            </a:pPr>
            <a:r>
              <a:rPr dirty="0"/>
              <a:t>🌱 </a:t>
            </a:r>
            <a:r>
              <a:rPr dirty="0" err="1"/>
              <a:t>根与芽</a:t>
            </a:r>
            <a:r>
              <a:rPr dirty="0"/>
              <a:t> · </a:t>
            </a:r>
            <a:r>
              <a:rPr dirty="0" err="1"/>
              <a:t>知识宇宙</a:t>
            </a:r>
            <a:endParaRPr dirty="0"/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200" b="0">
                <a:solidFill>
                  <a:srgbClr val="66CCFF"/>
                </a:solidFill>
              </a:defRPr>
            </a:pPr>
            <a:r>
              <a:rPr dirty="0" err="1"/>
              <a:t>文档关联</a:t>
            </a:r>
            <a:r>
              <a:rPr dirty="0"/>
              <a:t> · </a:t>
            </a:r>
            <a:r>
              <a:rPr dirty="0" err="1"/>
              <a:t>探索发现</a:t>
            </a:r>
            <a:r>
              <a:rPr dirty="0"/>
              <a:t> · </a:t>
            </a:r>
            <a:r>
              <a:rPr dirty="0" err="1"/>
              <a:t>对话溯源</a:t>
            </a:r>
            <a:r>
              <a:rPr dirty="0"/>
              <a:t> —— </a:t>
            </a:r>
            <a:r>
              <a:rPr dirty="0" err="1"/>
              <a:t>让知识自己长出连接</a:t>
            </a:r>
            <a:endParaRPr dirty="0"/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rPr dirty="0" err="1"/>
              <a:t>百度</a:t>
            </a:r>
            <a:r>
              <a:rPr dirty="0"/>
              <a:t> BMO </a:t>
            </a:r>
            <a:r>
              <a:rPr dirty="0" err="1"/>
              <a:t>黑客松</a:t>
            </a:r>
            <a:r>
              <a:rPr dirty="0"/>
              <a:t> 2026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A0AEC0"/>
                </a:solidFill>
              </a:defRPr>
            </a:pPr>
            <a:r>
              <a:rPr dirty="0" err="1"/>
              <a:t>大模型运营部</a:t>
            </a:r>
            <a:r>
              <a:rPr dirty="0"/>
              <a:t> | </a:t>
            </a:r>
            <a:r>
              <a:rPr lang="zh-CN" altLang="en-US" dirty="0">
                <a:latin typeface="+mj-ea"/>
                <a:ea typeface="+mj-ea"/>
              </a:rPr>
              <a:t>杨千钎 石雯静团队</a:t>
            </a:r>
            <a:endParaRPr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00D4FF"/>
                </a:solidFill>
              </a:defRPr>
            </a:pPr>
            <a:r>
              <a:t>❓ 问题：文档孤岛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rPr dirty="0" err="1"/>
              <a:t>每个新人入职，面对的是</a:t>
            </a:r>
            <a:r>
              <a:rPr lang="zh-CN" altLang="en-US" dirty="0"/>
              <a:t>如流</a:t>
            </a:r>
            <a:r>
              <a:rPr dirty="0" err="1"/>
              <a:t>上</a:t>
            </a:r>
            <a:r>
              <a:rPr lang="zh-CN" altLang="en-US" dirty="0"/>
              <a:t>许多</a:t>
            </a:r>
            <a:r>
              <a:rPr dirty="0" err="1"/>
              <a:t>分散的文档</a:t>
            </a:r>
            <a:r>
              <a:rPr dirty="0"/>
              <a:t>——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A0AEC0"/>
                </a:solidFill>
              </a:defRPr>
            </a:pPr>
            <a:r>
              <a:rPr dirty="0" err="1"/>
              <a:t>活动复盘、产品手册、渠道资料、会议纪要</a:t>
            </a:r>
            <a:r>
              <a:rPr dirty="0"/>
              <a:t>……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rPr dirty="0"/>
              <a:t>❌  </a:t>
            </a:r>
            <a:r>
              <a:rPr dirty="0" err="1"/>
              <a:t>文档之间没有连接</a:t>
            </a:r>
            <a:endParaRPr dirty="0"/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rPr dirty="0"/>
              <a:t>❌  </a:t>
            </a:r>
            <a:r>
              <a:rPr dirty="0" err="1"/>
              <a:t>找信息只能靠关键词碰运气</a:t>
            </a:r>
            <a:endParaRPr dirty="0"/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rPr dirty="0"/>
              <a:t>❌  </a:t>
            </a:r>
            <a:r>
              <a:rPr dirty="0" err="1"/>
              <a:t>跨文档的关联完全靠人脑记忆</a:t>
            </a:r>
            <a:endParaRPr dirty="0"/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600" b="1">
                <a:solidFill>
                  <a:srgbClr val="F59E0B"/>
                </a:solidFill>
              </a:defRPr>
            </a:pPr>
            <a:r>
              <a:rPr dirty="0"/>
              <a:t>“</a:t>
            </a:r>
            <a:r>
              <a:rPr dirty="0" err="1"/>
              <a:t>我们不缺文档，缺的是文档之间的连接</a:t>
            </a:r>
            <a:r>
              <a:rPr dirty="0"/>
              <a:t>。”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0D4FF"/>
                </a:solidFill>
              </a:defRPr>
            </a:pPr>
            <a:r>
              <a:t>💡 方案：上传文档 → AI自动生成知识网络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FFFFF"/>
                </a:solidFill>
              </a:defRPr>
            </a:pPr>
            <a:r>
              <a:t>三大核心能力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 algn="l">
              <a:spcAft>
                <a:spcPts val="600"/>
              </a:spcAft>
              <a:defRPr sz="2200" b="1">
                <a:solidFill>
                  <a:srgbClr val="66CCFF"/>
                </a:solidFill>
              </a:defRPr>
            </a:pPr>
            <a:r>
              <a:t>🔍  探索式浏览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t>    双击节点，关联知识自动展开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spcAft>
                <a:spcPts val="600"/>
              </a:spcAft>
              <a:defRPr sz="2200" b="1">
                <a:solidFill>
                  <a:srgbClr val="66CCFF"/>
                </a:solidFill>
              </a:defRPr>
            </a:pPr>
            <a:r>
              <a:t>💬  对话式检索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t>    AI回答 + 图谱实体实时高亮溯源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spcAft>
                <a:spcPts val="600"/>
              </a:spcAft>
              <a:defRPr sz="2200" b="1">
                <a:solidFill>
                  <a:srgbClr val="66CCFF"/>
                </a:solidFill>
              </a:defRPr>
            </a:pPr>
            <a:r>
              <a:t>📄  一键摘要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t>    点击文档节点，30秒生成摘要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FFFFF"/>
                </a:solidFill>
              </a:defRPr>
            </a:pPr>
            <a:r>
              <a:t>技术架构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前端  React + TypeScript + Neo4j NVL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后端  Python + FastAPI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图数据库  Neo4j AuraDB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LLM  DeepSeek（模型无关架构）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嵌入  all-MiniLM-L6-v2（本地）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部署  Docker Compose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 algn="l">
              <a:spcAft>
                <a:spcPts val="600"/>
              </a:spcAft>
              <a:defRPr sz="1600" b="0">
                <a:solidFill>
                  <a:srgbClr val="F59E0B"/>
                </a:solidFill>
              </a:defRPr>
            </a:pPr>
            <a:r>
              <a:t>⚡ 换模型只需改一个环境变量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068830"/>
            <a:ext cx="9144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D4FF"/>
                </a:solidFill>
              </a:defRPr>
            </a:pPr>
            <a:r>
              <a:rPr dirty="0"/>
              <a:t>🎬  Live Demo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400" b="0">
                <a:solidFill>
                  <a:srgbClr val="F59E0B"/>
                </a:solidFill>
              </a:defRPr>
            </a:pPr>
            <a:r>
              <a:rPr dirty="0"/>
              <a:t>457 </a:t>
            </a:r>
            <a:r>
              <a:rPr dirty="0" err="1"/>
              <a:t>个节点</a:t>
            </a:r>
            <a:r>
              <a:rPr dirty="0"/>
              <a:t>  ·  1,030 </a:t>
            </a:r>
            <a:r>
              <a:rPr dirty="0" err="1"/>
              <a:t>条关系</a:t>
            </a:r>
            <a:r>
              <a:rPr dirty="0"/>
              <a:t>  ·  </a:t>
            </a:r>
            <a:r>
              <a:rPr dirty="0" err="1"/>
              <a:t>零人工标注</a:t>
            </a:r>
            <a:endParaRPr dirty="0"/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rPr dirty="0"/>
              <a:t>（</a:t>
            </a:r>
            <a:r>
              <a:rPr dirty="0" err="1">
                <a:hlinkClick r:id="rId2"/>
              </a:rPr>
              <a:t>切换到浏览器展示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0D4FF"/>
                </a:solidFill>
              </a:defRPr>
            </a:pPr>
            <a:r>
              <a:t>📈 业务价值：真实数据，真实场景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9E0B"/>
                </a:solidFill>
              </a:defRPr>
            </a:pPr>
            <a:r>
              <a:rPr dirty="0" err="1"/>
              <a:t>用的是部门真实运营文档，不是Wikipedia，不是模拟数据</a:t>
            </a:r>
            <a:endParaRPr dirty="0"/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👤  </a:t>
            </a:r>
            <a:r>
              <a:rPr dirty="0" err="1"/>
              <a:t>新人入职</a:t>
            </a:r>
            <a:r>
              <a:rPr dirty="0"/>
              <a:t>        </a:t>
            </a:r>
            <a:r>
              <a:rPr lang="zh-CN" altLang="en-US" dirty="0"/>
              <a:t>快速</a:t>
            </a:r>
            <a:r>
              <a:rPr dirty="0" err="1"/>
              <a:t>建立业务全貌</a:t>
            </a:r>
            <a:r>
              <a:rPr lang="zh-CN" altLang="en-US" dirty="0"/>
              <a:t>，依据兴趣和所需</a:t>
            </a:r>
            <a:r>
              <a:rPr lang="zh-CN" altLang="en-US"/>
              <a:t>深层次探索</a:t>
            </a: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📋  </a:t>
            </a:r>
            <a:r>
              <a:rPr dirty="0" err="1"/>
              <a:t>活动策划</a:t>
            </a:r>
            <a:r>
              <a:rPr dirty="0"/>
              <a:t>        </a:t>
            </a:r>
            <a:r>
              <a:rPr dirty="0" err="1"/>
              <a:t>一眼看到历史渠道与效果关联</a:t>
            </a: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📝  </a:t>
            </a:r>
            <a:r>
              <a:rPr dirty="0" err="1"/>
              <a:t>复盘沉淀</a:t>
            </a:r>
            <a:r>
              <a:rPr dirty="0"/>
              <a:t>        </a:t>
            </a:r>
            <a:r>
              <a:rPr dirty="0" err="1"/>
              <a:t>上传即入网，自动被后人发现</a:t>
            </a: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🔄  </a:t>
            </a:r>
            <a:r>
              <a:rPr dirty="0" err="1"/>
              <a:t>知识激活</a:t>
            </a:r>
            <a:r>
              <a:rPr dirty="0"/>
              <a:t>        </a:t>
            </a:r>
            <a:r>
              <a:rPr dirty="0" err="1"/>
              <a:t>文档越多，网络越密，价值复利增长</a:t>
            </a:r>
            <a:endParaRPr dirty="0"/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200" b="1">
                <a:solidFill>
                  <a:srgbClr val="FFFFFF"/>
                </a:solidFill>
              </a:defRPr>
            </a:pPr>
            <a:r>
              <a:rPr dirty="0" err="1"/>
              <a:t>与传统方案的区别</a:t>
            </a:r>
            <a:r>
              <a:rPr dirty="0"/>
              <a:t>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rPr lang="zh-CN" altLang="en-US" dirty="0">
                <a:solidFill>
                  <a:srgbClr val="A0AEC0"/>
                </a:solidFill>
              </a:rPr>
              <a:t>如流</a:t>
            </a:r>
            <a:r>
              <a:rPr dirty="0" err="1">
                <a:solidFill>
                  <a:srgbClr val="A0AEC0"/>
                </a:solidFill>
              </a:rPr>
              <a:t>搜索</a:t>
            </a:r>
            <a:r>
              <a:rPr dirty="0">
                <a:solidFill>
                  <a:srgbClr val="A0AEC0"/>
                </a:solidFill>
              </a:rPr>
              <a:t> </a:t>
            </a:r>
            <a:r>
              <a:rPr dirty="0"/>
              <a:t>→ </a:t>
            </a:r>
            <a:r>
              <a:rPr dirty="0" err="1"/>
              <a:t>你得知道关键词</a:t>
            </a:r>
            <a:r>
              <a:rPr dirty="0"/>
              <a:t> | </a:t>
            </a:r>
            <a:r>
              <a:rPr dirty="0" err="1"/>
              <a:t>根与芽</a:t>
            </a:r>
            <a:r>
              <a:rPr dirty="0"/>
              <a:t> → </a:t>
            </a:r>
            <a:r>
              <a:rPr dirty="0" err="1"/>
              <a:t>点击即发现</a:t>
            </a:r>
            <a:endParaRPr dirty="0"/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rPr dirty="0" err="1"/>
              <a:t>纯AI问答</a:t>
            </a:r>
            <a:r>
              <a:rPr dirty="0"/>
              <a:t> → </a:t>
            </a:r>
            <a:r>
              <a:rPr lang="zh-CN" altLang="en-US" dirty="0"/>
              <a:t>随意拓展</a:t>
            </a:r>
            <a:r>
              <a:rPr dirty="0"/>
              <a:t> | </a:t>
            </a:r>
            <a:r>
              <a:rPr dirty="0" err="1"/>
              <a:t>根与芽</a:t>
            </a:r>
            <a:r>
              <a:rPr dirty="0"/>
              <a:t> → </a:t>
            </a:r>
            <a:r>
              <a:rPr lang="zh-CN" altLang="en-US" dirty="0"/>
              <a:t>幻觉率极低</a:t>
            </a:r>
            <a:endParaRPr dirty="0"/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rPr dirty="0" err="1"/>
              <a:t>向量相似</a:t>
            </a:r>
            <a:r>
              <a:rPr dirty="0"/>
              <a:t> → </a:t>
            </a:r>
            <a:r>
              <a:rPr dirty="0" err="1"/>
              <a:t>匿名相似度</a:t>
            </a:r>
            <a:r>
              <a:rPr dirty="0"/>
              <a:t> | </a:t>
            </a:r>
            <a:r>
              <a:rPr dirty="0" err="1"/>
              <a:t>根与芽</a:t>
            </a:r>
            <a:r>
              <a:rPr dirty="0"/>
              <a:t> → </a:t>
            </a:r>
            <a:r>
              <a:rPr dirty="0" err="1"/>
              <a:t>有名字的</a:t>
            </a:r>
            <a:r>
              <a:rPr lang="en-US" dirty="0" err="1"/>
              <a:t>RELATIONSHIP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0D4FF"/>
                </a:solidFill>
              </a:defRPr>
            </a:pPr>
            <a:r>
              <a:t>🔧 技术亮点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① </a:t>
            </a:r>
            <a:r>
              <a:rPr dirty="0" err="1"/>
              <a:t>模型无关架构</a:t>
            </a:r>
            <a:r>
              <a:rPr dirty="0"/>
              <a:t> —— </a:t>
            </a:r>
            <a:r>
              <a:rPr dirty="0" err="1"/>
              <a:t>一个环境变量切换</a:t>
            </a:r>
            <a:r>
              <a:rPr dirty="0"/>
              <a:t> </a:t>
            </a:r>
            <a:r>
              <a:rPr dirty="0" err="1"/>
              <a:t>DeepSeek</a:t>
            </a:r>
            <a:r>
              <a:rPr dirty="0"/>
              <a:t> / </a:t>
            </a:r>
            <a:r>
              <a:rPr dirty="0" err="1"/>
              <a:t>文心</a:t>
            </a:r>
            <a:r>
              <a:rPr dirty="0"/>
              <a:t> / </a:t>
            </a:r>
            <a:r>
              <a:rPr dirty="0" err="1"/>
              <a:t>任意模型</a:t>
            </a:r>
            <a:endParaRPr dirty="0"/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② </a:t>
            </a:r>
            <a:r>
              <a:rPr dirty="0" err="1"/>
              <a:t>图谱质量优化</a:t>
            </a:r>
            <a:r>
              <a:rPr dirty="0"/>
              <a:t> —— </a:t>
            </a:r>
            <a:r>
              <a:rPr lang="zh-CN" altLang="en-US" dirty="0"/>
              <a:t>根据句子完整逻辑因果拆分，</a:t>
            </a:r>
            <a:r>
              <a:rPr dirty="0"/>
              <a:t>1587碎片 → 457有效节点（-71%），</a:t>
            </a:r>
            <a:r>
              <a:rPr dirty="0" err="1"/>
              <a:t>零孤立节点</a:t>
            </a:r>
            <a:endParaRPr dirty="0"/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③ </a:t>
            </a:r>
            <a:r>
              <a:rPr dirty="0" err="1"/>
              <a:t>渐进式探索</a:t>
            </a:r>
            <a:r>
              <a:rPr dirty="0"/>
              <a:t> —— </a:t>
            </a:r>
            <a:r>
              <a:rPr dirty="0" err="1"/>
              <a:t>双击展开两跳邻居，不过载用户</a:t>
            </a:r>
            <a:endParaRPr dirty="0"/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④ </a:t>
            </a:r>
            <a:r>
              <a:rPr dirty="0" err="1"/>
              <a:t>对话-图谱联动</a:t>
            </a:r>
            <a:r>
              <a:rPr dirty="0"/>
              <a:t> —— </a:t>
            </a:r>
            <a:r>
              <a:rPr dirty="0" err="1"/>
              <a:t>AI回答中的实体在图上实时高亮放大</a:t>
            </a:r>
            <a:endParaRPr dirty="0"/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200" b="1">
                <a:solidFill>
                  <a:srgbClr val="F59E0B"/>
                </a:solidFill>
              </a:defRPr>
            </a:pPr>
            <a:r>
              <a:rPr dirty="0"/>
              <a:t>📄 6篇真实文档   |   🤖 </a:t>
            </a:r>
            <a:r>
              <a:rPr dirty="0" err="1"/>
              <a:t>AI辅助开发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1440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rPr dirty="0" err="1"/>
              <a:t>落地路径</a:t>
            </a:r>
            <a:endParaRPr dirty="0"/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200" b="0">
                <a:solidFill>
                  <a:srgbClr val="A0AEC0"/>
                </a:solidFill>
              </a:defRPr>
            </a:pPr>
            <a:r>
              <a:rPr dirty="0" err="1"/>
              <a:t>接入</a:t>
            </a:r>
            <a:r>
              <a:rPr lang="zh-CN" altLang="en-US" dirty="0"/>
              <a:t>如流</a:t>
            </a:r>
            <a:r>
              <a:rPr dirty="0" err="1"/>
              <a:t>文档同步</a:t>
            </a:r>
            <a:r>
              <a:rPr dirty="0"/>
              <a:t>  +  </a:t>
            </a:r>
            <a:r>
              <a:rPr dirty="0" err="1"/>
              <a:t>切换文心模型</a:t>
            </a:r>
            <a:r>
              <a:rPr dirty="0"/>
              <a:t>  +  </a:t>
            </a:r>
            <a:r>
              <a:rPr dirty="0" err="1"/>
              <a:t>部署内网</a:t>
            </a:r>
            <a:endParaRPr dirty="0"/>
          </a:p>
          <a:p>
            <a:pPr algn="ctr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800" b="1">
                <a:solidFill>
                  <a:srgbClr val="F59E0B"/>
                </a:solidFill>
              </a:defRPr>
            </a:pPr>
            <a:r>
              <a:rPr dirty="0"/>
              <a:t>“</a:t>
            </a:r>
            <a:r>
              <a:rPr dirty="0" err="1"/>
              <a:t>我们不缺文档，缺的是文档之间的连接</a:t>
            </a:r>
            <a:r>
              <a:rPr dirty="0"/>
              <a:t>。”</a:t>
            </a:r>
          </a:p>
          <a:p>
            <a:pPr algn="ctr">
              <a:spcAft>
                <a:spcPts val="600"/>
              </a:spcAft>
              <a:defRPr sz="2400" b="0">
                <a:solidFill>
                  <a:srgbClr val="00D4FF"/>
                </a:solidFill>
              </a:defRPr>
            </a:pPr>
            <a:r>
              <a:rPr dirty="0" err="1"/>
              <a:t>根与芽，让知识自己长出网络</a:t>
            </a:r>
            <a:r>
              <a:rPr dirty="0"/>
              <a:t>。</a:t>
            </a:r>
          </a:p>
          <a:p>
            <a:pPr algn="ctr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dirty="0" err="1"/>
              <a:t>谢谢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269</Words>
  <Application>Microsoft Macintosh PowerPoint</Application>
  <PresentationFormat>宽屏</PresentationFormat>
  <Paragraphs>72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宋体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yeungchinchin</cp:lastModifiedBy>
  <cp:revision>2</cp:revision>
  <dcterms:created xsi:type="dcterms:W3CDTF">2013-01-27T09:14:16Z</dcterms:created>
  <dcterms:modified xsi:type="dcterms:W3CDTF">2026-06-16T01:44:31Z</dcterms:modified>
  <cp:category/>
</cp:coreProperties>
</file>